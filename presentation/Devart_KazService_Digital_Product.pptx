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результат — работающий прототип. Открывается локально без сборки, проверен в браузере: форма, валидация, CRM-доска, мобильная вёрстка.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UX-принцип: одна страница — одно целевое действие. Секции отвечают на возражения в порядке их возникновения.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Логика: форма → проверка → CRM → подтверждение → напоминание → посещение → follow-up. Хранилище — localStorage, только тестовые 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необработанная генерация не считается результатом. Каждый пункт справа — дефект, найденный при ручной проверке.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риск — принять демо за систему. Первый шаг делает прототип пригодным для реального потока без переделки фронтенда.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11135" y="-10972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FD6E8"/>
                </a:solidFill>
                <a:latin typeface="Calibri"/>
              </a:rPr>
              <a:t>DEVART × KAZSERVICE · НАПРАВЛЕНИЕ 3 · AI CONTENT &amp; DIGITAL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Cambria"/>
              </a:rPr>
              <a:t>Работающий прототип, а не макет:
сайт, регистрация и CRM-логика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9FB4C2"/>
                </a:solidFill>
                <a:latin typeface="Calibri"/>
              </a:rPr>
              <a:t>Мероприятие получает цифровой контур целиком — от первого экрана до звонка после события. Всё открывается в браузере без установки и внешних сервисов.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94760"/>
            <a:ext cx="1755648" cy="14173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86384" y="3959352"/>
            <a:ext cx="329184" cy="32918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416552"/>
            <a:ext cx="1463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Узнал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727448"/>
            <a:ext cx="1463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9FB4C2"/>
                </a:solidFill>
                <a:latin typeface="Calibri"/>
              </a:rPr>
              <a:t>LinkedIn /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1" y="3794760"/>
            <a:ext cx="1755648" cy="14173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596896" y="3959352"/>
            <a:ext cx="329184" cy="32918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4416552"/>
            <a:ext cx="1463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Изучил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4727448"/>
            <a:ext cx="1463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9FB4C2"/>
                </a:solidFill>
                <a:latin typeface="Calibri"/>
              </a:rPr>
              <a:t>Лендинг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3794760"/>
            <a:ext cx="1755648" cy="14173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407408" y="3959352"/>
            <a:ext cx="329184" cy="32918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4416552"/>
            <a:ext cx="1463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Оставил заявку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4727448"/>
            <a:ext cx="1463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9FB4C2"/>
                </a:solidFill>
                <a:latin typeface="Calibri"/>
              </a:rPr>
              <a:t>Форма + согласие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3794760"/>
            <a:ext cx="1755648" cy="14173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217920" y="3959352"/>
            <a:ext cx="329184" cy="32918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416552"/>
            <a:ext cx="1463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Подтверждение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727448"/>
            <a:ext cx="1463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9FB4C2"/>
                </a:solidFill>
                <a:latin typeface="Calibri"/>
              </a:rPr>
              <a:t>Письмо, ID заявки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82127" y="3794760"/>
            <a:ext cx="1755648" cy="14173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028431" y="3959352"/>
            <a:ext cx="329184" cy="32918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416552"/>
            <a:ext cx="1463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Пришёл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4727448"/>
            <a:ext cx="1463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9FB4C2"/>
                </a:solidFill>
                <a:latin typeface="Calibri"/>
              </a:rPr>
              <a:t>Отметка на входе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3794760"/>
            <a:ext cx="1755648" cy="14173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838944" y="3959352"/>
            <a:ext cx="329184" cy="32918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8944" y="4416552"/>
            <a:ext cx="14630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Follow-up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8944" y="4727448"/>
            <a:ext cx="14630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9FB4C2"/>
                </a:solidFill>
                <a:latin typeface="Calibri"/>
              </a:rPr>
              <a:t>Звонок, материалы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9FB4C2"/>
                </a:solidFill>
                <a:latin typeface="Calibri"/>
              </a:rPr>
              <a:t>Путь участника — единая система: каждый шаг оставляет запись в CRM-карточке и определяет следующее действие организатора.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93AB"/>
                </a:solidFill>
                <a:latin typeface="Calibri"/>
              </a:rPr>
              <a:t>СТРУКТУРА САЙТА И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6233F"/>
                </a:solidFill>
                <a:latin typeface="Cambria"/>
              </a:rPr>
              <a:t>Одна страница ведёт к одному действию — регистрации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Calibri"/>
              </a:rPr>
              <a:t>Восемь секций закрывают возражения в том порядке, в котором они возникают у корпоративного участника.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2615184" cy="129844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41247" y="250545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233F"/>
                </a:solidFill>
                <a:latin typeface="Calibri"/>
              </a:rPr>
              <a:t>Первый экран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81635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Что, где, когда + CTA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172968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E93AB"/>
                </a:solidFill>
                <a:latin typeface="Calibri"/>
              </a:rPr>
              <a:t>Решение за 5 секунд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331720"/>
            <a:ext cx="2615184" cy="129844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30168" y="250545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233F"/>
                </a:solidFill>
                <a:latin typeface="Calibri"/>
              </a:rPr>
              <a:t>Для кого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81635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4 роли участников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3172968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E93AB"/>
                </a:solidFill>
                <a:latin typeface="Calibri"/>
              </a:rPr>
              <a:t>Участник узнаёт себя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31720"/>
            <a:ext cx="2615184" cy="129844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19088" y="250545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233F"/>
                </a:solidFill>
                <a:latin typeface="Calibri"/>
              </a:rPr>
              <a:t>Программа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1635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6 блоков с таймингом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172968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E93AB"/>
                </a:solidFill>
                <a:latin typeface="Calibri"/>
              </a:rPr>
              <a:t>Понятно, за что отдаёт 3 часа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2331720"/>
            <a:ext cx="2615184" cy="129844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08007" y="250545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233F"/>
                </a:solidFill>
                <a:latin typeface="Calibri"/>
              </a:rPr>
              <a:t>Спикеры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7" y="281635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Devart и KazService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7" y="3172968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E93AB"/>
                </a:solidFill>
                <a:latin typeface="Calibri"/>
              </a:rPr>
              <a:t>Доверие к содержанию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03904"/>
            <a:ext cx="2615184" cy="129844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397764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233F"/>
                </a:solidFill>
                <a:latin typeface="Calibri"/>
              </a:rPr>
              <a:t>Как это устроено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2885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Анимированная схема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64515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E93AB"/>
                </a:solidFill>
                <a:latin typeface="Calibri"/>
              </a:rPr>
              <a:t>Прозрачность после заявки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3803904"/>
            <a:ext cx="2615184" cy="129844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630168" y="397764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233F"/>
                </a:solidFill>
                <a:latin typeface="Calibri"/>
              </a:rPr>
              <a:t>Площадка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168" y="42885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Формат, язык, дресс-код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464515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E93AB"/>
                </a:solidFill>
                <a:latin typeface="Calibri"/>
              </a:rPr>
              <a:t>Снимает бытовые вопросы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803904"/>
            <a:ext cx="2615184" cy="129844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19088" y="397764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233F"/>
                </a:solidFill>
                <a:latin typeface="Calibri"/>
              </a:rPr>
              <a:t>FAQ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2885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4 частых вопроса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64515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E93AB"/>
                </a:solidFill>
                <a:latin typeface="Calibri"/>
              </a:rPr>
              <a:t>Убирает переписку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39" y="3803904"/>
            <a:ext cx="2615184" cy="129844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208007" y="397764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233F"/>
                </a:solidFill>
                <a:latin typeface="Calibri"/>
              </a:rPr>
              <a:t>Регистрация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7" y="4288536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Calibri"/>
              </a:rPr>
              <a:t>Форма + согласие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7" y="464515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E93AB"/>
                </a:solidFill>
                <a:latin typeface="Calibri"/>
              </a:rPr>
              <a:t>Целевое действие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FD6E8"/>
                </a:solidFill>
                <a:latin typeface="Calibri"/>
              </a:rPr>
              <a:t>Что это значит для бизнеса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Структура держит внимание до формы: нижняя строка каждой карточки — не описание, а снятое возражение. Мобильная вёрстка проверена — горизонтальной прокрутки нет.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93AB"/>
                </a:solidFill>
                <a:latin typeface="Calibri"/>
              </a:rPr>
              <a:t>РЕГИСТРАЦИЯ, CRM И СХЕМА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6233F"/>
                </a:solidFill>
                <a:latin typeface="Cambria"/>
              </a:rPr>
              <a:t>Заявка сразу становится карточкой со статусом и следующим шагом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233F"/>
                </a:solidFill>
                <a:latin typeface="Calibri"/>
              </a:rPr>
              <a:t>Форма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176272"/>
            <a:ext cx="146304" cy="14630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733"/>
                </a:solidFill>
                <a:latin typeface="Calibri"/>
              </a:rPr>
              <a:t>Имя и фамилия — обязательно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487168"/>
            <a:ext cx="146304" cy="14630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5973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733"/>
                </a:solidFill>
                <a:latin typeface="Calibri"/>
              </a:rPr>
              <a:t>Компания — обязательно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98063"/>
            <a:ext cx="146304" cy="14630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733"/>
                </a:solidFill>
                <a:latin typeface="Calibri"/>
              </a:rPr>
              <a:t>Роль — список из 5 значений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08959"/>
            <a:ext cx="146304" cy="14630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81527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733"/>
                </a:solidFill>
                <a:latin typeface="Calibri"/>
              </a:rPr>
              <a:t>Email — обязательно, формат проверяется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419855"/>
            <a:ext cx="146304" cy="14630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92423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733"/>
                </a:solidFill>
                <a:latin typeface="Calibri"/>
              </a:rPr>
              <a:t>Телефон — необязательно, формат проверяется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30752"/>
            <a:ext cx="146304" cy="14630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733"/>
                </a:solidFill>
                <a:latin typeface="Calibri"/>
              </a:rPr>
              <a:t>Согласие на обработку ПД — обязательно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5029200" cy="105156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6233F"/>
                </a:solidFill>
                <a:latin typeface="Calibri"/>
              </a:rPr>
              <a:t>Валидация — на каждом поле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Ошибка появляется при потере фокуса и исчезает по мере исправления. Без согласия отправка не проходит.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78308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6233F"/>
                </a:solidFill>
                <a:latin typeface="Calibri"/>
              </a:rPr>
              <a:t>Статусы участника</a:t>
            </a:r>
          </a:p>
        </p:txBody>
      </p:sp>
      <p:sp>
        <p:nvSpPr>
          <p:cNvPr id="20" name="Oval 19"/>
          <p:cNvSpPr/>
          <p:nvPr/>
        </p:nvSpPr>
        <p:spPr>
          <a:xfrm>
            <a:off x="6172200" y="2130552"/>
            <a:ext cx="274320" cy="274320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48840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233F"/>
                </a:solidFill>
                <a:latin typeface="Calibri"/>
              </a:rPr>
              <a:t>Заявка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148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форма отправлена и прошла проверку</a:t>
            </a:r>
          </a:p>
        </p:txBody>
      </p:sp>
      <p:sp>
        <p:nvSpPr>
          <p:cNvPr id="23" name="Oval 22"/>
          <p:cNvSpPr/>
          <p:nvPr/>
        </p:nvSpPr>
        <p:spPr>
          <a:xfrm>
            <a:off x="6172200" y="2532888"/>
            <a:ext cx="274320" cy="274320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551176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233F"/>
                </a:solidFill>
                <a:latin typeface="Calibri"/>
              </a:rPr>
              <a:t>Подтверждено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5511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письмо с деталями участия</a:t>
            </a:r>
          </a:p>
        </p:txBody>
      </p:sp>
      <p:sp>
        <p:nvSpPr>
          <p:cNvPr id="26" name="Oval 25"/>
          <p:cNvSpPr/>
          <p:nvPr/>
        </p:nvSpPr>
        <p:spPr>
          <a:xfrm>
            <a:off x="6172200" y="2935224"/>
            <a:ext cx="274320" cy="274320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953512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233F"/>
                </a:solidFill>
                <a:latin typeface="Calibri"/>
              </a:rPr>
              <a:t>Напоминание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9535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за сутки до мероприятия</a:t>
            </a:r>
          </a:p>
        </p:txBody>
      </p:sp>
      <p:sp>
        <p:nvSpPr>
          <p:cNvPr id="29" name="Oval 28"/>
          <p:cNvSpPr/>
          <p:nvPr/>
        </p:nvSpPr>
        <p:spPr>
          <a:xfrm>
            <a:off x="6172200" y="3337560"/>
            <a:ext cx="274320" cy="274320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355848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233F"/>
                </a:solidFill>
                <a:latin typeface="Calibri"/>
              </a:rPr>
              <a:t>Посещение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3558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отметка на входе</a:t>
            </a:r>
          </a:p>
        </p:txBody>
      </p:sp>
      <p:sp>
        <p:nvSpPr>
          <p:cNvPr id="32" name="Oval 31"/>
          <p:cNvSpPr/>
          <p:nvPr/>
        </p:nvSpPr>
        <p:spPr>
          <a:xfrm>
            <a:off x="6172200" y="3739896"/>
            <a:ext cx="274320" cy="274320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75818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233F"/>
                </a:solidFill>
                <a:latin typeface="Calibri"/>
              </a:rPr>
              <a:t>Follow-up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7581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звонок и материалы после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160520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0" y="4343400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6233F"/>
                </a:solidFill>
                <a:latin typeface="Calibri"/>
              </a:rPr>
              <a:t>Схема записи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ourier New"/>
              </a:rPr>
              <a:t>id · name · company · role · email · phone · status · createdAt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1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FD6E8"/>
                </a:solidFill>
                <a:latin typeface="Calibri"/>
              </a:rPr>
              <a:t>Что это значит для бизнеса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Руководитель видит воронку целиком: сколько заявок, сколько подтвердились, сколько дошли. В прототипе переходы кнопкой — в проде это триггеры почты, QR и задача менеджеру.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E93AB"/>
                </a:solidFill>
                <a:latin typeface="Calibri"/>
              </a:rPr>
              <a:t>AI-ИНСТРУМЕНТЫ И РУЧНАЯ ДОРАБОТКА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6233F"/>
                </a:solidFill>
                <a:latin typeface="Cambria"/>
              </a:rPr>
              <a:t>AI дал черновик и скорость — правки решали качество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Calibri"/>
              </a:rPr>
              <a:t>Всё, что AI сгенерировал, проверялось в браузере. Ниже — что именно пришлось исправить руками.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52374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233F"/>
                </a:solidFill>
                <a:latin typeface="Calibri"/>
              </a:rPr>
              <a:t>Вёрстка и разметка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39" y="2523744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B6B7B"/>
                </a:solidFill>
                <a:latin typeface="Calibri"/>
              </a:rPr>
              <a:t>Каркас страниц, сетки, адаптив</a:t>
            </a:r>
          </a:p>
        </p:txBody>
      </p:sp>
      <p:sp>
        <p:nvSpPr>
          <p:cNvPr id="8" name="Oval 7"/>
          <p:cNvSpPr/>
          <p:nvPr/>
        </p:nvSpPr>
        <p:spPr>
          <a:xfrm>
            <a:off x="6903720" y="2651760"/>
            <a:ext cx="237744" cy="23774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523744"/>
            <a:ext cx="397763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Анимация SVG через атрибут r не работает в Safari — заменил на transform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10128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233F"/>
                </a:solidFill>
                <a:latin typeface="Calibri"/>
              </a:rPr>
              <a:t>Тексты на русском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345643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B6B7B"/>
                </a:solidFill>
                <a:latin typeface="Calibri"/>
              </a:rPr>
              <a:t>Черновики секций, FAQ, формулировки</a:t>
            </a:r>
          </a:p>
        </p:txBody>
      </p:sp>
      <p:sp>
        <p:nvSpPr>
          <p:cNvPr id="13" name="Oval 12"/>
          <p:cNvSpPr/>
          <p:nvPr/>
        </p:nvSpPr>
        <p:spPr>
          <a:xfrm>
            <a:off x="6903720" y="3584448"/>
            <a:ext cx="237744" cy="23774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456432"/>
            <a:ext cx="397763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Счётчик выдавал «1 заявок» — добавил правило склонения (1/2–4/5+)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42816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233F"/>
                </a:solidFill>
                <a:latin typeface="Calibri"/>
              </a:rPr>
              <a:t>Логика формы и 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438912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B6B7B"/>
                </a:solidFill>
                <a:latin typeface="Calibri"/>
              </a:rPr>
              <a:t>Валидация, статусы, хранение</a:t>
            </a:r>
          </a:p>
        </p:txBody>
      </p:sp>
      <p:sp>
        <p:nvSpPr>
          <p:cNvPr id="18" name="Oval 17"/>
          <p:cNvSpPr/>
          <p:nvPr/>
        </p:nvSpPr>
        <p:spPr>
          <a:xfrm>
            <a:off x="6903720" y="4517136"/>
            <a:ext cx="237744" cy="23774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389120"/>
            <a:ext cx="397763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Демо-данные покрывали 4 статуса из 5 — добавил пятую запись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75504"/>
            <a:ext cx="1088136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" y="5321808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6233F"/>
                </a:solidFill>
                <a:latin typeface="Calibri"/>
              </a:rPr>
              <a:t>Структура подачи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5321808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5B6B7B"/>
                </a:solidFill>
                <a:latin typeface="Calibri"/>
              </a:rPr>
              <a:t>План слайдов и документов</a:t>
            </a:r>
          </a:p>
        </p:txBody>
      </p:sp>
      <p:sp>
        <p:nvSpPr>
          <p:cNvPr id="23" name="Oval 22"/>
          <p:cNvSpPr/>
          <p:nvPr/>
        </p:nvSpPr>
        <p:spPr>
          <a:xfrm>
            <a:off x="6903720" y="5449824"/>
            <a:ext cx="237744" cy="237744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5321808"/>
            <a:ext cx="397763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C2733"/>
                </a:solidFill>
                <a:latin typeface="Calibri"/>
              </a:rPr>
              <a:t>Переписал заголовки слайдов: тезис вместо названия раздела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39" y="210312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B6B7B"/>
                </a:solidFill>
                <a:latin typeface="Calibri"/>
              </a:rPr>
              <a:t>ЧТО СДЕЛАЛ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103120"/>
            <a:ext cx="3977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E93AB"/>
                </a:solidFill>
                <a:latin typeface="Calibri"/>
              </a:rPr>
              <a:t>ЧТО ИСПРАВИЛ ВРУЧНУЮ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5B6B7B"/>
                </a:solidFill>
                <a:latin typeface="Calibri"/>
              </a:rPr>
              <a:t>Инструменты: Claude (код, тексты, структура) · проверка — ручное тестирование в браузере на десктопе и мобильном разрешении.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FD6E8"/>
                </a:solidFill>
                <a:latin typeface="Calibri"/>
              </a:rPr>
              <a:t>ОГРАНИЧЕНИЯ, РИСКИ И СЛЕДУЮЩИЙ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Прототип честно показывает логику — но это ещё не продакшн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29000" cy="32004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96112" y="2057400"/>
            <a:ext cx="2916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FD6E8"/>
                </a:solidFill>
                <a:latin typeface="Calibri"/>
              </a:rPr>
              <a:t>Ограничения</a:t>
            </a:r>
          </a:p>
        </p:txBody>
      </p:sp>
      <p:sp>
        <p:nvSpPr>
          <p:cNvPr id="6" name="Oval 5"/>
          <p:cNvSpPr/>
          <p:nvPr/>
        </p:nvSpPr>
        <p:spPr>
          <a:xfrm>
            <a:off x="896112" y="2596896"/>
            <a:ext cx="118872" cy="118872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542032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Данные — в localStorage браузера, не в базе</a:t>
            </a:r>
          </a:p>
        </p:txBody>
      </p:sp>
      <p:sp>
        <p:nvSpPr>
          <p:cNvPr id="8" name="Oval 7"/>
          <p:cNvSpPr/>
          <p:nvPr/>
        </p:nvSpPr>
        <p:spPr>
          <a:xfrm>
            <a:off x="896112" y="3191256"/>
            <a:ext cx="118872" cy="118872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36391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Письма и напоминания не отправляются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3785615"/>
            <a:ext cx="118872" cy="118872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30752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Нет сервера: защита и доступы не реализованы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4379976"/>
            <a:ext cx="118872" cy="118872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25112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Спикеры и адрес площадки — плейсхолдеры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828800"/>
            <a:ext cx="3429000" cy="32004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17720" y="2057400"/>
            <a:ext cx="2916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FD6E8"/>
                </a:solidFill>
                <a:latin typeface="Calibri"/>
              </a:rPr>
              <a:t>Главные риски</a:t>
            </a:r>
          </a:p>
        </p:txBody>
      </p:sp>
      <p:sp>
        <p:nvSpPr>
          <p:cNvPr id="16" name="Oval 15"/>
          <p:cNvSpPr/>
          <p:nvPr/>
        </p:nvSpPr>
        <p:spPr>
          <a:xfrm>
            <a:off x="4617720" y="2596896"/>
            <a:ext cx="118872" cy="118872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542032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Демо примут за готовую систему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3191256"/>
            <a:ext cx="118872" cy="118872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3136391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Данные исчезнут при очистке браузера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3785615"/>
            <a:ext cx="118872" cy="118872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3730752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Тексты не проверены юристом Devart</a:t>
            </a:r>
          </a:p>
        </p:txBody>
      </p:sp>
      <p:sp>
        <p:nvSpPr>
          <p:cNvPr id="22" name="Oval 21"/>
          <p:cNvSpPr/>
          <p:nvPr/>
        </p:nvSpPr>
        <p:spPr>
          <a:xfrm>
            <a:off x="4617720" y="4379976"/>
            <a:ext cx="118872" cy="118872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4325112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Реальная CRM может не принять эту схему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828800"/>
            <a:ext cx="3429000" cy="32004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339327" y="2057400"/>
            <a:ext cx="2916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FD6E8"/>
                </a:solidFill>
                <a:latin typeface="Calibri"/>
              </a:rPr>
              <a:t>Следующий backlog</a:t>
            </a:r>
          </a:p>
        </p:txBody>
      </p:sp>
      <p:sp>
        <p:nvSpPr>
          <p:cNvPr id="26" name="Oval 25"/>
          <p:cNvSpPr/>
          <p:nvPr/>
        </p:nvSpPr>
        <p:spPr>
          <a:xfrm>
            <a:off x="8339327" y="2596896"/>
            <a:ext cx="118872" cy="118872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6216" y="2542032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Форма → Make/n8n → таблица или CRM</a:t>
            </a:r>
          </a:p>
        </p:txBody>
      </p:sp>
      <p:sp>
        <p:nvSpPr>
          <p:cNvPr id="28" name="Oval 27"/>
          <p:cNvSpPr/>
          <p:nvPr/>
        </p:nvSpPr>
        <p:spPr>
          <a:xfrm>
            <a:off x="8339327" y="3191256"/>
            <a:ext cx="118872" cy="118872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86216" y="3136391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Автописьмо-подтверждение и напоминание</a:t>
            </a:r>
          </a:p>
        </p:txBody>
      </p:sp>
      <p:sp>
        <p:nvSpPr>
          <p:cNvPr id="30" name="Oval 29"/>
          <p:cNvSpPr/>
          <p:nvPr/>
        </p:nvSpPr>
        <p:spPr>
          <a:xfrm>
            <a:off x="8339327" y="3785615"/>
            <a:ext cx="118872" cy="118872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216" y="3730752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QR-check-in на входе</a:t>
            </a:r>
          </a:p>
        </p:txBody>
      </p:sp>
      <p:sp>
        <p:nvSpPr>
          <p:cNvPr id="32" name="Oval 31"/>
          <p:cNvSpPr/>
          <p:nvPr/>
        </p:nvSpPr>
        <p:spPr>
          <a:xfrm>
            <a:off x="8339327" y="4379976"/>
            <a:ext cx="118872" cy="118872"/>
          </a:xfrm>
          <a:prstGeom prst="ellipse">
            <a:avLst/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6216" y="4325112"/>
            <a:ext cx="26700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Казахская версия страницы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E9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60119" y="546811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6233F"/>
                </a:solidFill>
                <a:latin typeface="Calibri"/>
              </a:rPr>
              <a:t>Первый шаг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Подключить форму к таблице через Make и включить автописьмо — после этого прототип можно ставить на реальный поток регистраций без переписывания фронтенда.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